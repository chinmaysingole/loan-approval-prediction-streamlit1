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71" r:id="rId8"/>
    <p:sldId id="261" r:id="rId9"/>
    <p:sldId id="262" r:id="rId10"/>
    <p:sldId id="270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4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C2304-C21E-55C2-0326-3D6424DAB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A30E9-3C17-DD13-CD86-2FC16B6C3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FA521-7B17-D23A-92B4-B751E883F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014DB-9E84-E7DD-10A6-BFF36CBE38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40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92964-FDBA-2780-CAF1-7FC919A5F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24115-7B13-4CBB-405E-CE8BD87DC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89722-BF21-001B-D0C4-FE51897DF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74FDC-DF67-578B-32A9-8154B8088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01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37349-36B4-6048-4913-07D4ABCCA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EB0B0-7E20-A9A6-6698-AA9A86144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61D09-11A4-A006-BAEE-6BF77A0BB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51EA9-19AE-E934-E5BC-025DDEE9B1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13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282"/>
            <a:ext cx="8083296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75"/>
              </a:lnSpc>
              <a:buNone/>
            </a:pPr>
            <a:r>
              <a:rPr lang="en-US" sz="825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💳</a:t>
            </a:r>
            <a:endParaRPr lang="en-US" sz="8250" dirty="0"/>
          </a:p>
        </p:txBody>
      </p:sp>
      <p:sp>
        <p:nvSpPr>
          <p:cNvPr id="3" name="Text 1"/>
          <p:cNvSpPr/>
          <p:nvPr/>
        </p:nvSpPr>
        <p:spPr>
          <a:xfrm>
            <a:off x="609600" y="2018407"/>
            <a:ext cx="7924800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80"/>
              </a:lnSpc>
              <a:buNone/>
            </a:pPr>
            <a:r>
              <a:rPr lang="en-US" sz="6480" dirty="0">
                <a:solidFill>
                  <a:srgbClr val="F97316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Loan Approval Prediction</a:t>
            </a:r>
            <a:endParaRPr lang="en-US" sz="6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3816846"/>
            <a:ext cx="808329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0"/>
              </a:lnSpc>
              <a:buNone/>
            </a:pPr>
            <a:r>
              <a:rPr lang="en-US" sz="2000" dirty="0">
                <a:solidFill>
                  <a:srgbClr val="A1A1A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Machine Learning Project Presentation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4277767"/>
            <a:ext cx="7315200" cy="542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data cleaning and model comparison to a Streamlit deployment that predicts whether a loan application is approved or rejected.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88939"/>
            <a:ext cx="3848100" cy="1238250"/>
          </a:xfrm>
          <a:prstGeom prst="roundRect">
            <a:avLst>
              <a:gd name="adj" fmla="val 1181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227064"/>
            <a:ext cx="252561" cy="38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86300" y="1988939"/>
            <a:ext cx="3848100" cy="1238250"/>
          </a:xfrm>
          <a:prstGeom prst="roundRect">
            <a:avLst>
              <a:gd name="adj" fmla="val 1181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425" y="2227064"/>
            <a:ext cx="281136" cy="38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3455789"/>
            <a:ext cx="3848100" cy="1238250"/>
          </a:xfrm>
          <a:prstGeom prst="roundRect">
            <a:avLst>
              <a:gd name="adj" fmla="val 1181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693914"/>
            <a:ext cx="233362" cy="381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86300" y="3455789"/>
            <a:ext cx="3848100" cy="1238250"/>
          </a:xfrm>
          <a:prstGeom prst="roundRect">
            <a:avLst>
              <a:gd name="adj" fmla="val 1181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425" y="3693914"/>
            <a:ext cx="297359" cy="381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09600" y="44961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609600" y="830610"/>
            <a:ext cx="8083296" cy="777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120"/>
              </a:lnSpc>
              <a:buNone/>
            </a:pPr>
            <a:r>
              <a:rPr lang="en-US" sz="4080" u="sng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What this project covers</a:t>
            </a:r>
            <a:endParaRPr lang="en-US" sz="408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252686" y="2227064"/>
            <a:ext cx="3026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Problem &amp; objective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252686" y="2531864"/>
            <a:ext cx="29668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Why loan prediction matters and what the project aims to solve.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357961" y="2227064"/>
            <a:ext cx="2997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Dataset &amp; preprocessing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357961" y="2531864"/>
            <a:ext cx="29383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Data size, features, cleaning, encoding, and scaling steps.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233488" y="3693914"/>
            <a:ext cx="30458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Model building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233488" y="3998714"/>
            <a:ext cx="298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Comparison of multiple ML algorithms using key performance metrics.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374184" y="3693914"/>
            <a:ext cx="29805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Results &amp; deployment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5374184" y="3998714"/>
            <a:ext cx="2922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Best model selection and Streamlit web app features.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986246"/>
            <a:ext cx="3962400" cy="3080929"/>
          </a:xfrm>
          <a:prstGeom prst="roundRect">
            <a:avLst>
              <a:gd name="adj" fmla="val 7337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48270"/>
            <a:ext cx="3847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9100" y="788789"/>
            <a:ext cx="4152900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940"/>
              </a:lnSpc>
              <a:buNone/>
            </a:pPr>
            <a:r>
              <a:rPr lang="en-US" sz="3960" u="sng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Problem statement</a:t>
            </a:r>
            <a:endParaRPr lang="en-US" sz="396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74468" y="2064561"/>
            <a:ext cx="3771900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20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Financial institutions need a reliable way to decide whether a loan application should be approved or rejected using applicant details and credit-related information. Manual review can be slow and inconsistent when decisions depend on many variables at once.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76825" y="1390650"/>
            <a:ext cx="32061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EF3C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Why this matters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76825" y="1847850"/>
            <a:ext cx="3143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Faster screening of large numbers of applications.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More consistent decision support using historical patterns.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Better use of applicant variables like income, credit score, and loan burden.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918395"/>
            <a:ext cx="4046220" cy="2724150"/>
          </a:xfrm>
          <a:prstGeom prst="roundRect">
            <a:avLst>
              <a:gd name="adj" fmla="val 537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1918395"/>
            <a:ext cx="3962400" cy="2724150"/>
          </a:xfrm>
          <a:prstGeom prst="roundRect">
            <a:avLst>
              <a:gd name="adj" fmla="val 537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501104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882104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3840" u="sng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Objective and solution</a:t>
            </a:r>
            <a:endParaRPr lang="en-US" sz="384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3925" y="2232720"/>
            <a:ext cx="3283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🎯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23925" y="2842320"/>
            <a:ext cx="32838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Objective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23925" y="3261420"/>
            <a:ext cx="32194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Build a machine learning model that predicts loan approval status accurately and supports faster, more consistent decisions.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00625" y="2232720"/>
            <a:ext cx="3283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🛠️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00625" y="2842320"/>
            <a:ext cx="32838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Solution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00625" y="3261420"/>
            <a:ext cx="32194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Train multiple classification models on historical loan data, select the best one, and deploy it in Streamlit for real-time predictions and user-friendly feedback.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46857"/>
            <a:ext cx="1838325" cy="1317520"/>
          </a:xfrm>
          <a:prstGeom prst="roundRect">
            <a:avLst>
              <a:gd name="adj" fmla="val 9035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638424" y="1046857"/>
            <a:ext cx="1838325" cy="1317520"/>
          </a:xfrm>
          <a:prstGeom prst="roundRect">
            <a:avLst>
              <a:gd name="adj" fmla="val 9035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33246" y="1086892"/>
            <a:ext cx="1838325" cy="1317520"/>
          </a:xfrm>
          <a:prstGeom prst="roundRect">
            <a:avLst>
              <a:gd name="adj" fmla="val 9035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28068" y="1090868"/>
            <a:ext cx="1838325" cy="1313544"/>
          </a:xfrm>
          <a:prstGeom prst="roundRect">
            <a:avLst>
              <a:gd name="adj" fmla="val 9035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9230" y="2446488"/>
            <a:ext cx="8333666" cy="2594704"/>
          </a:xfrm>
          <a:prstGeom prst="roundRect">
            <a:avLst>
              <a:gd name="adj" fmla="val 8777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86767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01067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3840" u="sng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Data overview</a:t>
            </a:r>
            <a:endParaRPr lang="en-US" sz="384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4104" y="1704082"/>
            <a:ext cx="13893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34099" y="1671893"/>
            <a:ext cx="13893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Initial rows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42546" y="1310215"/>
            <a:ext cx="13893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14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59548" y="1683400"/>
            <a:ext cx="1362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Original columns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57749" y="1263330"/>
            <a:ext cx="13893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5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84991" y="1691564"/>
            <a:ext cx="1362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Categorical 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20579" y="1337612"/>
            <a:ext cx="13893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9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66192" y="1704082"/>
            <a:ext cx="1362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Numeric fields incl. target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47071" y="2651156"/>
            <a:ext cx="7372350" cy="1229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524049-9C85-7510-3B32-E1E6C65552F8}"/>
              </a:ext>
            </a:extLst>
          </p:cNvPr>
          <p:cNvSpPr txBox="1"/>
          <p:nvPr/>
        </p:nvSpPr>
        <p:spPr>
          <a:xfrm>
            <a:off x="905582" y="1256604"/>
            <a:ext cx="13722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45000</a:t>
            </a:r>
            <a:endParaRPr lang="en-IN" sz="2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27DDECD-B89E-B45D-95A8-7815560DF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63" y="2742307"/>
            <a:ext cx="6982097" cy="19743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DCADB-4E38-D316-9375-05B6E41EF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272E5EF7-622A-4EA9-3603-9FB5973AC35F}"/>
              </a:ext>
            </a:extLst>
          </p:cNvPr>
          <p:cNvSpPr/>
          <p:nvPr/>
        </p:nvSpPr>
        <p:spPr>
          <a:xfrm>
            <a:off x="359230" y="672737"/>
            <a:ext cx="8333666" cy="4368455"/>
          </a:xfrm>
          <a:prstGeom prst="roundRect">
            <a:avLst>
              <a:gd name="adj" fmla="val 8777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DF8EDC7-BE68-6E10-90BA-2CC05E1D0367}"/>
              </a:ext>
            </a:extLst>
          </p:cNvPr>
          <p:cNvSpPr/>
          <p:nvPr/>
        </p:nvSpPr>
        <p:spPr>
          <a:xfrm>
            <a:off x="609600" y="86767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DC05294-0907-9AF1-0C34-E2203F3519A0}"/>
              </a:ext>
            </a:extLst>
          </p:cNvPr>
          <p:cNvSpPr/>
          <p:nvPr/>
        </p:nvSpPr>
        <p:spPr>
          <a:xfrm>
            <a:off x="269645" y="-105486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3840" u="sng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Data overview</a:t>
            </a:r>
            <a:endParaRPr lang="en-US" sz="384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ABDD259-5568-5695-605C-36C00AAAE91E}"/>
              </a:ext>
            </a:extLst>
          </p:cNvPr>
          <p:cNvSpPr/>
          <p:nvPr/>
        </p:nvSpPr>
        <p:spPr>
          <a:xfrm>
            <a:off x="3630256" y="936640"/>
            <a:ext cx="1362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8CA145F-64AF-43F0-6394-6CE2633F87C8}"/>
              </a:ext>
            </a:extLst>
          </p:cNvPr>
          <p:cNvSpPr/>
          <p:nvPr/>
        </p:nvSpPr>
        <p:spPr>
          <a:xfrm>
            <a:off x="4884991" y="1691564"/>
            <a:ext cx="1362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3ED5E9C-9C4F-B479-CFEE-F7C2E10223FF}"/>
              </a:ext>
            </a:extLst>
          </p:cNvPr>
          <p:cNvSpPr/>
          <p:nvPr/>
        </p:nvSpPr>
        <p:spPr>
          <a:xfrm>
            <a:off x="6920579" y="1337612"/>
            <a:ext cx="13893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40A87AE-155D-1DB2-B545-0664FBE0DBC0}"/>
              </a:ext>
            </a:extLst>
          </p:cNvPr>
          <p:cNvSpPr/>
          <p:nvPr/>
        </p:nvSpPr>
        <p:spPr>
          <a:xfrm>
            <a:off x="6866192" y="1704082"/>
            <a:ext cx="1362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4E97F32-FF11-3D18-3785-04B69947594F}"/>
              </a:ext>
            </a:extLst>
          </p:cNvPr>
          <p:cNvSpPr/>
          <p:nvPr/>
        </p:nvSpPr>
        <p:spPr>
          <a:xfrm>
            <a:off x="947071" y="2651156"/>
            <a:ext cx="7372350" cy="1229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9152881-7DB9-29B0-421C-15B0729E4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785" y="1216887"/>
            <a:ext cx="5852555" cy="338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06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BDA6C9-1930-B961-AC6A-6E4782C2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6497571C-C427-B717-09EB-58530B98A073}"/>
              </a:ext>
            </a:extLst>
          </p:cNvPr>
          <p:cNvSpPr/>
          <p:nvPr/>
        </p:nvSpPr>
        <p:spPr>
          <a:xfrm>
            <a:off x="359230" y="507621"/>
            <a:ext cx="8333666" cy="4533572"/>
          </a:xfrm>
          <a:prstGeom prst="roundRect">
            <a:avLst>
              <a:gd name="adj" fmla="val 8777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2562D8-63EF-7A29-4D47-8522F8368AE6}"/>
              </a:ext>
            </a:extLst>
          </p:cNvPr>
          <p:cNvSpPr/>
          <p:nvPr/>
        </p:nvSpPr>
        <p:spPr>
          <a:xfrm>
            <a:off x="609600" y="86767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12C0FE-0F83-C88E-E177-7F6EF816CBA3}"/>
              </a:ext>
            </a:extLst>
          </p:cNvPr>
          <p:cNvSpPr/>
          <p:nvPr/>
        </p:nvSpPr>
        <p:spPr>
          <a:xfrm>
            <a:off x="269645" y="-105486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3840" u="sng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Data overview</a:t>
            </a:r>
            <a:endParaRPr lang="en-US" sz="384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C7C602B-416F-A2A5-6C1F-90E07A4534DF}"/>
              </a:ext>
            </a:extLst>
          </p:cNvPr>
          <p:cNvSpPr/>
          <p:nvPr/>
        </p:nvSpPr>
        <p:spPr>
          <a:xfrm>
            <a:off x="3630256" y="936640"/>
            <a:ext cx="1362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3C0B853-C543-24B5-0C05-879C15E0AEE9}"/>
              </a:ext>
            </a:extLst>
          </p:cNvPr>
          <p:cNvSpPr/>
          <p:nvPr/>
        </p:nvSpPr>
        <p:spPr>
          <a:xfrm>
            <a:off x="4884991" y="1691564"/>
            <a:ext cx="1362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B222361-7ADD-5C53-2F38-FF546BA07C71}"/>
              </a:ext>
            </a:extLst>
          </p:cNvPr>
          <p:cNvSpPr/>
          <p:nvPr/>
        </p:nvSpPr>
        <p:spPr>
          <a:xfrm>
            <a:off x="6920579" y="1337612"/>
            <a:ext cx="13893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1D0A742-E924-0665-AF50-D60CFF3C0FF3}"/>
              </a:ext>
            </a:extLst>
          </p:cNvPr>
          <p:cNvSpPr/>
          <p:nvPr/>
        </p:nvSpPr>
        <p:spPr>
          <a:xfrm>
            <a:off x="6866192" y="1704082"/>
            <a:ext cx="1362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780115F-A3F7-A09A-F8D0-C62122DD75C8}"/>
              </a:ext>
            </a:extLst>
          </p:cNvPr>
          <p:cNvSpPr/>
          <p:nvPr/>
        </p:nvSpPr>
        <p:spPr>
          <a:xfrm>
            <a:off x="947071" y="2651156"/>
            <a:ext cx="7372350" cy="1229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729FA-EBF5-229C-0306-480FFC1EB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707" y="658879"/>
            <a:ext cx="5531081" cy="418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607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8010" y="1028700"/>
            <a:ext cx="1714500" cy="1714500"/>
          </a:xfrm>
          <a:prstGeom prst="roundRect">
            <a:avLst>
              <a:gd name="adj" fmla="val 266667"/>
            </a:avLst>
          </a:prstGeom>
          <a:noFill/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1746" y="1165920"/>
            <a:ext cx="2489150" cy="2457450"/>
          </a:xfrm>
          <a:prstGeom prst="roundRect">
            <a:avLst>
              <a:gd name="adj" fmla="val 5953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48177" y="1196460"/>
            <a:ext cx="2489150" cy="2457450"/>
          </a:xfrm>
          <a:prstGeom prst="roundRect">
            <a:avLst>
              <a:gd name="adj" fmla="val 5953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20467" y="1165920"/>
            <a:ext cx="2489299" cy="2457450"/>
          </a:xfrm>
          <a:prstGeom prst="roundRect">
            <a:avLst>
              <a:gd name="adj" fmla="val 5953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859530"/>
            <a:ext cx="7924800" cy="1009650"/>
          </a:xfrm>
          <a:prstGeom prst="roundRect">
            <a:avLst>
              <a:gd name="adj" fmla="val 1449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-2277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1104" y="38461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3840" u="sng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Preprocessing workflow</a:t>
            </a:r>
            <a:endParaRPr lang="en-US" sz="384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77007" y="1339156"/>
            <a:ext cx="20531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🧹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33199" y="1697415"/>
            <a:ext cx="2053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Cleaning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7236" y="1986856"/>
            <a:ext cx="2012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Removed impossible values by keeping age between 18 and 80 and employee experience between 0 and 60.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30068" y="1404045"/>
            <a:ext cx="20531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📉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644798" y="1778814"/>
            <a:ext cx="2053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Transformation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44798" y="2110529"/>
            <a:ext cx="2012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Applied log transformation to person income and replaced the original income field with person_income_log.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36743" y="1359668"/>
            <a:ext cx="20533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🔤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229249" y="1737251"/>
            <a:ext cx="22723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Encoding &amp; scaling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88583" y="2098494"/>
            <a:ext cx="201304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Encoded categorical columns with LabelEncoder and prepared scaled numeric data using StandardScaler.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7725" y="4061861"/>
            <a:ext cx="7448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cleaning, the dataset size became 44,990 rows. The final model input consisted of 13 features.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00155" y="832586"/>
            <a:ext cx="3810000" cy="2495550"/>
          </a:xfrm>
          <a:prstGeom prst="roundRect">
            <a:avLst>
              <a:gd name="adj" fmla="val 8793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77279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7952" y="205225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3840" u="sng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Training setup</a:t>
            </a:r>
            <a:endParaRPr lang="en-US" sz="384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2623" y="1165920"/>
            <a:ext cx="3810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20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Feature matrix size after preprocessing: 44,990 rows × 13 features.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20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Train-test split: 80% training and 20% testing with stratification.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20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Training set size: 35,992 rows; test set size: 8,998 rows.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20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Multiple models were compared using Accuracy, Precision, Recall, F1 Score, and ROC-AUC.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82666" y="1073677"/>
            <a:ext cx="32449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u="sng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evaluated</a:t>
            </a:r>
            <a:endParaRPr lang="en-US" sz="1800" u="sng" dirty="0"/>
          </a:p>
        </p:txBody>
      </p:sp>
      <p:sp>
        <p:nvSpPr>
          <p:cNvPr id="7" name="Text 5"/>
          <p:cNvSpPr/>
          <p:nvPr/>
        </p:nvSpPr>
        <p:spPr>
          <a:xfrm>
            <a:off x="5053869" y="1478823"/>
            <a:ext cx="15144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Logistic Regression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77000" y="1477794"/>
            <a:ext cx="15144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Decision Tree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53869" y="2125039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Random Forest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07527" y="1947011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XGBoost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53869" y="2455875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LightGBM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07527" y="2455875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CatBoost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ED729-03FF-5212-C860-5AC9B8234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C68202D-C454-367E-1AAE-CD719B39B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95" y="310604"/>
            <a:ext cx="1333500" cy="133350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CDC696E7-63BB-69A8-3F9A-80B3660E1D01}"/>
              </a:ext>
            </a:extLst>
          </p:cNvPr>
          <p:cNvSpPr/>
          <p:nvPr/>
        </p:nvSpPr>
        <p:spPr>
          <a:xfrm>
            <a:off x="609600" y="196304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D6F74EF-85B1-DC32-D8B2-686C04AEB8FE}"/>
              </a:ext>
            </a:extLst>
          </p:cNvPr>
          <p:cNvSpPr/>
          <p:nvPr/>
        </p:nvSpPr>
        <p:spPr>
          <a:xfrm>
            <a:off x="267909" y="0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3840" u="sng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Top model comparison</a:t>
            </a:r>
            <a:endParaRPr lang="en-US" sz="384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73AAA97-D80C-5FFC-17D3-E17DAE59D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1" y="731491"/>
            <a:ext cx="6844936" cy="421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7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467" y="1824235"/>
            <a:ext cx="1729247" cy="1238250"/>
          </a:xfrm>
          <a:prstGeom prst="roundRect">
            <a:avLst>
              <a:gd name="adj" fmla="val 1181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0.92220</a:t>
            </a:r>
          </a:p>
        </p:txBody>
      </p:sp>
      <p:sp>
        <p:nvSpPr>
          <p:cNvPr id="6" name="Text 4"/>
          <p:cNvSpPr/>
          <p:nvPr/>
        </p:nvSpPr>
        <p:spPr>
          <a:xfrm>
            <a:off x="530352" y="348704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5814" y="124489"/>
            <a:ext cx="8632371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80"/>
              </a:lnSpc>
              <a:buNone/>
            </a:pPr>
            <a:r>
              <a:rPr lang="en-US" sz="4320" u="sng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Selected model: LightGBM Tuned</a:t>
            </a:r>
            <a:endParaRPr lang="en-US" sz="432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4104" y="2956471"/>
            <a:ext cx="13893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4553" y="2721718"/>
            <a:ext cx="13893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Accuracy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09184" y="2035357"/>
            <a:ext cx="13893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36749" y="3421956"/>
            <a:ext cx="13893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510" y="2014115"/>
            <a:ext cx="13893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20578" y="2189708"/>
            <a:ext cx="13893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9599" y="3671249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0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The final model was selected by sorting results using ROC-AUC, F1 Score, and Accuracy, which placed LightGBM Tuned at the top among all evaluated algorithms.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8F3C1E81-ABA8-DFAF-0418-C3209F31D0AE}"/>
              </a:ext>
            </a:extLst>
          </p:cNvPr>
          <p:cNvSpPr/>
          <p:nvPr/>
        </p:nvSpPr>
        <p:spPr>
          <a:xfrm>
            <a:off x="7175514" y="1852190"/>
            <a:ext cx="1709695" cy="1238250"/>
          </a:xfrm>
          <a:prstGeom prst="roundRect">
            <a:avLst>
              <a:gd name="adj" fmla="val 1181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0.9779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41C96C57-9226-3367-3E34-E8F26F04078B}"/>
              </a:ext>
            </a:extLst>
          </p:cNvPr>
          <p:cNvSpPr/>
          <p:nvPr/>
        </p:nvSpPr>
        <p:spPr>
          <a:xfrm>
            <a:off x="5428713" y="1845644"/>
            <a:ext cx="1709695" cy="1238250"/>
          </a:xfrm>
          <a:prstGeom prst="roundRect">
            <a:avLst>
              <a:gd name="adj" fmla="val 1181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</a:rPr>
              <a:t>0.8351</a:t>
            </a: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89AACAE4-FA41-4C7D-7EF6-A8FCB8B1ED91}"/>
              </a:ext>
            </a:extLst>
          </p:cNvPr>
          <p:cNvSpPr/>
          <p:nvPr/>
        </p:nvSpPr>
        <p:spPr>
          <a:xfrm>
            <a:off x="3675632" y="1824235"/>
            <a:ext cx="1709695" cy="1238250"/>
          </a:xfrm>
          <a:prstGeom prst="roundRect">
            <a:avLst>
              <a:gd name="adj" fmla="val 1181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0.8865</a:t>
            </a: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9E9AAD9E-5EBF-0EC8-0459-702B08BF1F0C}"/>
              </a:ext>
            </a:extLst>
          </p:cNvPr>
          <p:cNvSpPr/>
          <p:nvPr/>
        </p:nvSpPr>
        <p:spPr>
          <a:xfrm>
            <a:off x="1928831" y="1824235"/>
            <a:ext cx="1709695" cy="1238250"/>
          </a:xfrm>
          <a:prstGeom prst="roundRect">
            <a:avLst>
              <a:gd name="adj" fmla="val 1181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1792F8-0DE8-1127-849B-925EDDC70788}"/>
              </a:ext>
            </a:extLst>
          </p:cNvPr>
          <p:cNvSpPr txBox="1"/>
          <p:nvPr/>
        </p:nvSpPr>
        <p:spPr>
          <a:xfrm>
            <a:off x="3738080" y="2654282"/>
            <a:ext cx="154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7391A6-B701-A006-DFF7-63EE73934C24}"/>
              </a:ext>
            </a:extLst>
          </p:cNvPr>
          <p:cNvSpPr txBox="1"/>
          <p:nvPr/>
        </p:nvSpPr>
        <p:spPr>
          <a:xfrm>
            <a:off x="2260527" y="2646908"/>
            <a:ext cx="1203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80C52F-E385-0FAA-9755-30E061D2D9B7}"/>
              </a:ext>
            </a:extLst>
          </p:cNvPr>
          <p:cNvSpPr txBox="1"/>
          <p:nvPr/>
        </p:nvSpPr>
        <p:spPr>
          <a:xfrm>
            <a:off x="2148782" y="2136943"/>
            <a:ext cx="1313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0.7894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355B07-7FB5-B32C-37FC-E1E32092FC82}"/>
              </a:ext>
            </a:extLst>
          </p:cNvPr>
          <p:cNvSpPr txBox="1"/>
          <p:nvPr/>
        </p:nvSpPr>
        <p:spPr>
          <a:xfrm>
            <a:off x="5791690" y="2693153"/>
            <a:ext cx="1346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Score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1619A7-FD69-0F77-358C-241619C0FA66}"/>
              </a:ext>
            </a:extLst>
          </p:cNvPr>
          <p:cNvSpPr txBox="1"/>
          <p:nvPr/>
        </p:nvSpPr>
        <p:spPr>
          <a:xfrm>
            <a:off x="7503325" y="2659212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ROC-AUC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8089" y="2994720"/>
            <a:ext cx="1428750" cy="1428750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356420"/>
            <a:ext cx="2489150" cy="2495550"/>
          </a:xfrm>
          <a:prstGeom prst="roundRect">
            <a:avLst>
              <a:gd name="adj" fmla="val 5877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27350" y="1356420"/>
            <a:ext cx="2489150" cy="2495550"/>
          </a:xfrm>
          <a:prstGeom prst="roundRect">
            <a:avLst>
              <a:gd name="adj" fmla="val 5877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45101" y="1356420"/>
            <a:ext cx="2489299" cy="2495550"/>
          </a:xfrm>
          <a:prstGeom prst="roundRect">
            <a:avLst>
              <a:gd name="adj" fmla="val 5877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4070320"/>
            <a:ext cx="7924800" cy="1009650"/>
          </a:xfrm>
          <a:prstGeom prst="roundRect">
            <a:avLst>
              <a:gd name="adj" fmla="val 1449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-2277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20129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3840" u="sng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Streamlit application</a:t>
            </a:r>
            <a:endParaRPr lang="en-US" sz="384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90279" y="1557895"/>
            <a:ext cx="20531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🧾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47725" y="2006445"/>
            <a:ext cx="2012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Interactive input form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31658" y="2418093"/>
            <a:ext cx="201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Users enter 13 applicant features and receive an instant prediction.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17133" y="1557895"/>
            <a:ext cx="20531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📊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544660" y="1911794"/>
            <a:ext cx="2012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Informative result view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16966" y="2402521"/>
            <a:ext cx="2012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The app shows status tags, input summary, prediction probabilities, and model inputs used.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20184" y="1625445"/>
            <a:ext cx="20533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💡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481090" y="2018408"/>
            <a:ext cx="2053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Decision support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70291" y="2445194"/>
            <a:ext cx="20130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For rejected profiles, the app can show risk signals and suggestions for improvement.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7725" y="4263618"/>
            <a:ext cx="7448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Deployment artifacts saved in the project include </a:t>
            </a:r>
            <a:r>
              <a:rPr lang="en-US" sz="1600" b="1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best_model.pkl</a:t>
            </a:r>
            <a:r>
              <a:rPr lang="en-US" sz="16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scaler.pkl</a:t>
            </a:r>
            <a:r>
              <a:rPr lang="en-US" sz="16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label_encoders.pkl</a:t>
            </a:r>
            <a:r>
              <a:rPr lang="en-US" sz="16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, and </a:t>
            </a:r>
            <a:r>
              <a:rPr lang="en-US" sz="1600" b="1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feature_columns.pkl</a:t>
            </a:r>
            <a:r>
              <a:rPr lang="en-US" sz="16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870645"/>
            <a:ext cx="7924800" cy="1276350"/>
          </a:xfrm>
          <a:prstGeom prst="roundRect">
            <a:avLst>
              <a:gd name="adj" fmla="val 11462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29601"/>
            <a:ext cx="7924800" cy="1276350"/>
          </a:xfrm>
          <a:prstGeom prst="roundRect">
            <a:avLst>
              <a:gd name="adj" fmla="val 11462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99" y="3693695"/>
            <a:ext cx="7924800" cy="1198345"/>
          </a:xfrm>
          <a:prstGeom prst="roundRect">
            <a:avLst>
              <a:gd name="adj" fmla="val 11462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-241846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39154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3840" u="sng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Key outcomes</a:t>
            </a:r>
            <a:endParaRPr lang="en-US" sz="384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6300" y="975419"/>
            <a:ext cx="756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Practical ML pipeline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2012" y="1402395"/>
            <a:ext cx="7419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The project covered end-to-end work: dataset inspection, cleaning, feature engineering, preprocessing, training, evaluation, and deployment.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6025" y="2419785"/>
            <a:ext cx="756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Strong predictive performance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5672" y="2783048"/>
            <a:ext cx="7419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Tree-based boosting methods clearly outperformed simpler baselines, with LightGBM Tuned producing the best overall balance of metrics.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76300" y="3807783"/>
            <a:ext cx="756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FAFAFA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User-facing deployment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2011" y="4272855"/>
            <a:ext cx="7419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The Streamlit application converts the trained model into an accessible tool that can help demonstrate real-time decision support.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93390"/>
            <a:ext cx="8083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0"/>
              </a:lnSpc>
              <a:buNone/>
            </a:pPr>
            <a:r>
              <a:rPr lang="en-US" sz="7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🙏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30352" y="2217390"/>
            <a:ext cx="8083296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280"/>
              </a:lnSpc>
              <a:buNone/>
            </a:pPr>
            <a:r>
              <a:rPr lang="en-US" sz="5520" dirty="0">
                <a:solidFill>
                  <a:srgbClr val="F97316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Thank You</a:t>
            </a:r>
            <a:endParaRPr lang="en-US" sz="5520" dirty="0"/>
          </a:p>
        </p:txBody>
      </p:sp>
      <p:sp>
        <p:nvSpPr>
          <p:cNvPr id="4" name="Text 2"/>
          <p:cNvSpPr/>
          <p:nvPr/>
        </p:nvSpPr>
        <p:spPr>
          <a:xfrm>
            <a:off x="530352" y="3421261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Loan approval prediction using Machine Learning and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Streamlit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916561"/>
            <a:ext cx="731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dirty="0">
                <a:solidFill>
                  <a:srgbClr val="E4E4E7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This presentation summarized the problem statement, objective, preprocessing, model comparison, best result, and deployed Streamlit solution.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645</Words>
  <Application>Microsoft Office PowerPoint</Application>
  <PresentationFormat>On-screen Show (16:9)</PresentationFormat>
  <Paragraphs>110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Archivo Black</vt:lpstr>
      <vt:lpstr>Arial</vt:lpstr>
      <vt:lpstr>DM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CHINMAY SINGOLE</cp:lastModifiedBy>
  <cp:revision>4</cp:revision>
  <dcterms:created xsi:type="dcterms:W3CDTF">2026-07-07T06:12:49Z</dcterms:created>
  <dcterms:modified xsi:type="dcterms:W3CDTF">2026-07-08T07:42:29Z</dcterms:modified>
</cp:coreProperties>
</file>